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57" r:id="rId4"/>
    <p:sldId id="258" r:id="rId5"/>
    <p:sldId id="259" r:id="rId6"/>
    <p:sldId id="260" r:id="rId7"/>
    <p:sldId id="262" r:id="rId8"/>
    <p:sldId id="263" r:id="rId9"/>
    <p:sldId id="261" r:id="rId10"/>
    <p:sldId id="264" r:id="rId11"/>
    <p:sldId id="265" r:id="rId12"/>
    <p:sldId id="266" r:id="rId13"/>
    <p:sldId id="267" r:id="rId14"/>
    <p:sldId id="269" r:id="rId15"/>
    <p:sldId id="270" r:id="rId16"/>
    <p:sldId id="273" r:id="rId17"/>
    <p:sldId id="272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7"/>
    <p:restoredTop sz="94622"/>
  </p:normalViewPr>
  <p:slideViewPr>
    <p:cSldViewPr snapToGrid="0">
      <p:cViewPr varScale="1">
        <p:scale>
          <a:sx n="99" d="100"/>
          <a:sy n="99" d="100"/>
        </p:scale>
        <p:origin x="1184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6A1022-B3F4-F044-9E0B-52D11A55853C}" type="doc">
      <dgm:prSet loTypeId="urn:microsoft.com/office/officeart/2005/8/layout/h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94BA9B4-E080-6C47-B81E-738D3A6E7E82}">
      <dgm:prSet phldrT="[Text]"/>
      <dgm:spPr/>
      <dgm:t>
        <a:bodyPr/>
        <a:lstStyle/>
        <a:p>
          <a:r>
            <a:rPr lang="en-US" dirty="0"/>
            <a:t>Training System</a:t>
          </a:r>
        </a:p>
      </dgm:t>
    </dgm:pt>
    <dgm:pt modelId="{9841DC15-0F8E-C34E-957A-4EF2B3780E5E}" type="parTrans" cxnId="{ACA105A1-7836-804F-A015-F91722DB1C61}">
      <dgm:prSet/>
      <dgm:spPr/>
      <dgm:t>
        <a:bodyPr/>
        <a:lstStyle/>
        <a:p>
          <a:endParaRPr lang="en-US"/>
        </a:p>
      </dgm:t>
    </dgm:pt>
    <dgm:pt modelId="{AC285774-255F-8F4F-8F93-E58535461420}" type="sibTrans" cxnId="{ACA105A1-7836-804F-A015-F91722DB1C61}">
      <dgm:prSet/>
      <dgm:spPr/>
      <dgm:t>
        <a:bodyPr/>
        <a:lstStyle/>
        <a:p>
          <a:endParaRPr lang="en-US"/>
        </a:p>
      </dgm:t>
    </dgm:pt>
    <dgm:pt modelId="{4ADA1C78-C0D0-4F47-83D3-77FE0F25F81C}">
      <dgm:prSet phldrT="[Text]"/>
      <dgm:spPr/>
      <dgm:t>
        <a:bodyPr/>
        <a:lstStyle/>
        <a:p>
          <a:r>
            <a:rPr lang="en-US" dirty="0"/>
            <a:t>Builds / updates models</a:t>
          </a:r>
        </a:p>
      </dgm:t>
    </dgm:pt>
    <dgm:pt modelId="{A9E0D2B9-9C53-A64D-B5B9-47D1EA7A90E7}" type="parTrans" cxnId="{EA24FAAA-5E55-0944-942C-F2CEB3C827A0}">
      <dgm:prSet/>
      <dgm:spPr/>
      <dgm:t>
        <a:bodyPr/>
        <a:lstStyle/>
        <a:p>
          <a:endParaRPr lang="en-US"/>
        </a:p>
      </dgm:t>
    </dgm:pt>
    <dgm:pt modelId="{E4CD3858-2F0E-CA4D-AD37-EF4720FF8EDE}" type="sibTrans" cxnId="{EA24FAAA-5E55-0944-942C-F2CEB3C827A0}">
      <dgm:prSet/>
      <dgm:spPr/>
      <dgm:t>
        <a:bodyPr/>
        <a:lstStyle/>
        <a:p>
          <a:endParaRPr lang="en-US"/>
        </a:p>
      </dgm:t>
    </dgm:pt>
    <dgm:pt modelId="{52872F04-A713-AB4E-8A7E-081195C2F846}">
      <dgm:prSet phldrT="[Text]"/>
      <dgm:spPr/>
      <dgm:t>
        <a:bodyPr/>
        <a:lstStyle/>
        <a:p>
          <a:r>
            <a:rPr lang="en-US" dirty="0"/>
            <a:t>Runs offline (daily / weekly)</a:t>
          </a:r>
        </a:p>
      </dgm:t>
    </dgm:pt>
    <dgm:pt modelId="{5B9E2782-3D64-614F-898A-4F2FFA524CF5}" type="parTrans" cxnId="{1E9F5545-7A15-854D-95E0-73E68B5DFA79}">
      <dgm:prSet/>
      <dgm:spPr/>
      <dgm:t>
        <a:bodyPr/>
        <a:lstStyle/>
        <a:p>
          <a:endParaRPr lang="en-US"/>
        </a:p>
      </dgm:t>
    </dgm:pt>
    <dgm:pt modelId="{633E1828-52C4-8848-9F86-4B18EE0EBE1F}" type="sibTrans" cxnId="{1E9F5545-7A15-854D-95E0-73E68B5DFA79}">
      <dgm:prSet/>
      <dgm:spPr/>
      <dgm:t>
        <a:bodyPr/>
        <a:lstStyle/>
        <a:p>
          <a:endParaRPr lang="en-US"/>
        </a:p>
      </dgm:t>
    </dgm:pt>
    <dgm:pt modelId="{F27A9FB0-4767-0340-A41D-AED282127C97}">
      <dgm:prSet phldrT="[Text]"/>
      <dgm:spPr/>
      <dgm:t>
        <a:bodyPr/>
        <a:lstStyle/>
        <a:p>
          <a:r>
            <a:rPr lang="en-US" dirty="0"/>
            <a:t>Inference system</a:t>
          </a:r>
        </a:p>
      </dgm:t>
    </dgm:pt>
    <dgm:pt modelId="{6E3639AE-441B-0D40-8269-BE6D9F10206A}" type="parTrans" cxnId="{6BBADE63-4B69-7240-8F7A-431F97E3A195}">
      <dgm:prSet/>
      <dgm:spPr/>
      <dgm:t>
        <a:bodyPr/>
        <a:lstStyle/>
        <a:p>
          <a:endParaRPr lang="en-US"/>
        </a:p>
      </dgm:t>
    </dgm:pt>
    <dgm:pt modelId="{08D18AE5-F70C-0A47-AA49-9F710B0152C2}" type="sibTrans" cxnId="{6BBADE63-4B69-7240-8F7A-431F97E3A195}">
      <dgm:prSet/>
      <dgm:spPr/>
      <dgm:t>
        <a:bodyPr/>
        <a:lstStyle/>
        <a:p>
          <a:endParaRPr lang="en-US"/>
        </a:p>
      </dgm:t>
    </dgm:pt>
    <dgm:pt modelId="{3FBDAF70-3ADC-074B-8063-CF9E4B2022A1}">
      <dgm:prSet phldrT="[Text]"/>
      <dgm:spPr/>
      <dgm:t>
        <a:bodyPr/>
        <a:lstStyle/>
        <a:p>
          <a:r>
            <a:rPr lang="en-US" dirty="0"/>
            <a:t>Generates forecasts</a:t>
          </a:r>
        </a:p>
      </dgm:t>
    </dgm:pt>
    <dgm:pt modelId="{7E56BBB2-624F-8B48-957E-9CD5349C83E6}" type="parTrans" cxnId="{E399F5FC-CB58-2644-B5D4-AB38F47B31F0}">
      <dgm:prSet/>
      <dgm:spPr/>
      <dgm:t>
        <a:bodyPr/>
        <a:lstStyle/>
        <a:p>
          <a:endParaRPr lang="en-US"/>
        </a:p>
      </dgm:t>
    </dgm:pt>
    <dgm:pt modelId="{30DA1CAF-24FC-014A-A0AD-40428B042868}" type="sibTrans" cxnId="{E399F5FC-CB58-2644-B5D4-AB38F47B31F0}">
      <dgm:prSet/>
      <dgm:spPr/>
      <dgm:t>
        <a:bodyPr/>
        <a:lstStyle/>
        <a:p>
          <a:endParaRPr lang="en-US"/>
        </a:p>
      </dgm:t>
    </dgm:pt>
    <dgm:pt modelId="{986C4762-E20B-C841-A74D-DCDA242BFF07}">
      <dgm:prSet phldrT="[Text]"/>
      <dgm:spPr/>
      <dgm:t>
        <a:bodyPr/>
        <a:lstStyle/>
        <a:p>
          <a:r>
            <a:rPr lang="en-US" dirty="0"/>
            <a:t>Must be reliable, fast, reproducible</a:t>
          </a:r>
        </a:p>
      </dgm:t>
    </dgm:pt>
    <dgm:pt modelId="{8F15DDDA-A4D9-4C4B-AC8C-218719691A93}" type="parTrans" cxnId="{E03E9772-5518-D948-BF98-AA1A5CCCD8EA}">
      <dgm:prSet/>
      <dgm:spPr/>
      <dgm:t>
        <a:bodyPr/>
        <a:lstStyle/>
        <a:p>
          <a:endParaRPr lang="en-US"/>
        </a:p>
      </dgm:t>
    </dgm:pt>
    <dgm:pt modelId="{7D04BC13-71ED-2A45-B004-40A5091E6934}" type="sibTrans" cxnId="{E03E9772-5518-D948-BF98-AA1A5CCCD8EA}">
      <dgm:prSet/>
      <dgm:spPr/>
      <dgm:t>
        <a:bodyPr/>
        <a:lstStyle/>
        <a:p>
          <a:endParaRPr lang="en-US"/>
        </a:p>
      </dgm:t>
    </dgm:pt>
    <dgm:pt modelId="{E6AA8868-7E29-AD4E-AAF8-46DAED37BC60}">
      <dgm:prSet phldrT="[Text]"/>
      <dgm:spPr/>
      <dgm:t>
        <a:bodyPr/>
        <a:lstStyle/>
        <a:p>
          <a:r>
            <a:rPr lang="en-US" dirty="0"/>
            <a:t>Monitoring &amp; retraining system</a:t>
          </a:r>
        </a:p>
      </dgm:t>
    </dgm:pt>
    <dgm:pt modelId="{B8004ECC-CC5D-4C4D-86E1-E8535396A98A}" type="parTrans" cxnId="{510AEE87-8395-8046-9D20-8B165501ADA4}">
      <dgm:prSet/>
      <dgm:spPr/>
      <dgm:t>
        <a:bodyPr/>
        <a:lstStyle/>
        <a:p>
          <a:endParaRPr lang="en-US"/>
        </a:p>
      </dgm:t>
    </dgm:pt>
    <dgm:pt modelId="{467B45D1-C55A-6841-9E02-A6A8AE7A2192}" type="sibTrans" cxnId="{510AEE87-8395-8046-9D20-8B165501ADA4}">
      <dgm:prSet/>
      <dgm:spPr/>
      <dgm:t>
        <a:bodyPr/>
        <a:lstStyle/>
        <a:p>
          <a:endParaRPr lang="en-US"/>
        </a:p>
      </dgm:t>
    </dgm:pt>
    <dgm:pt modelId="{C6427D4E-9D4C-D446-9853-6E81AD1B3DCE}">
      <dgm:prSet phldrT="[Text]"/>
      <dgm:spPr/>
      <dgm:t>
        <a:bodyPr/>
        <a:lstStyle/>
        <a:p>
          <a:r>
            <a:rPr lang="en-US" dirty="0"/>
            <a:t>Detects drift / degradation</a:t>
          </a:r>
        </a:p>
      </dgm:t>
    </dgm:pt>
    <dgm:pt modelId="{9D9BA9E4-33F3-C946-B3B5-93D43ED7890B}" type="parTrans" cxnId="{25F39509-4546-DD41-8C49-D18A75CE9404}">
      <dgm:prSet/>
      <dgm:spPr/>
      <dgm:t>
        <a:bodyPr/>
        <a:lstStyle/>
        <a:p>
          <a:endParaRPr lang="en-US"/>
        </a:p>
      </dgm:t>
    </dgm:pt>
    <dgm:pt modelId="{680E9A33-3E7B-1F4F-AB46-92FB8C578144}" type="sibTrans" cxnId="{25F39509-4546-DD41-8C49-D18A75CE9404}">
      <dgm:prSet/>
      <dgm:spPr/>
      <dgm:t>
        <a:bodyPr/>
        <a:lstStyle/>
        <a:p>
          <a:endParaRPr lang="en-US"/>
        </a:p>
      </dgm:t>
    </dgm:pt>
    <dgm:pt modelId="{BB93CA41-B5DA-A848-B9E0-2AEE07D27AB2}">
      <dgm:prSet phldrT="[Text]"/>
      <dgm:spPr/>
      <dgm:t>
        <a:bodyPr/>
        <a:lstStyle/>
        <a:p>
          <a:r>
            <a:rPr lang="en-US" dirty="0"/>
            <a:t>Check model health and retrain</a:t>
          </a:r>
        </a:p>
      </dgm:t>
    </dgm:pt>
    <dgm:pt modelId="{D1592B6E-78F3-3745-86AC-40D46E17C200}" type="parTrans" cxnId="{C32ADA20-9342-4843-AEE9-5E3715822FAB}">
      <dgm:prSet/>
      <dgm:spPr/>
      <dgm:t>
        <a:bodyPr/>
        <a:lstStyle/>
        <a:p>
          <a:endParaRPr lang="en-US"/>
        </a:p>
      </dgm:t>
    </dgm:pt>
    <dgm:pt modelId="{12AF49DD-9437-F741-B1F7-2CFD0B3E7F1F}" type="sibTrans" cxnId="{C32ADA20-9342-4843-AEE9-5E3715822FAB}">
      <dgm:prSet/>
      <dgm:spPr/>
      <dgm:t>
        <a:bodyPr/>
        <a:lstStyle/>
        <a:p>
          <a:endParaRPr lang="en-US"/>
        </a:p>
      </dgm:t>
    </dgm:pt>
    <dgm:pt modelId="{204F7853-97AA-7640-8584-C1E71A9BC037}">
      <dgm:prSet phldrT="[Text]"/>
      <dgm:spPr/>
      <dgm:t>
        <a:bodyPr/>
        <a:lstStyle/>
        <a:p>
          <a:r>
            <a:rPr lang="en-US" dirty="0"/>
            <a:t>Often batch (not real-time)</a:t>
          </a:r>
        </a:p>
      </dgm:t>
    </dgm:pt>
    <dgm:pt modelId="{41AD4F36-501A-7647-9424-AC85DC868A48}" type="parTrans" cxnId="{EA69CAD1-431C-C14B-A059-875CF5A36EDE}">
      <dgm:prSet/>
      <dgm:spPr/>
    </dgm:pt>
    <dgm:pt modelId="{EAFD294E-D8E1-EB4E-9485-537E6DEE3081}" type="sibTrans" cxnId="{EA69CAD1-431C-C14B-A059-875CF5A36EDE}">
      <dgm:prSet/>
      <dgm:spPr/>
    </dgm:pt>
    <dgm:pt modelId="{4F4483D6-C076-9745-88A0-590AB16B8B20}" type="pres">
      <dgm:prSet presAssocID="{6A6A1022-B3F4-F044-9E0B-52D11A55853C}" presName="Name0" presStyleCnt="0">
        <dgm:presLayoutVars>
          <dgm:dir/>
          <dgm:animLvl val="lvl"/>
          <dgm:resizeHandles val="exact"/>
        </dgm:presLayoutVars>
      </dgm:prSet>
      <dgm:spPr/>
    </dgm:pt>
    <dgm:pt modelId="{9DD9458B-33D4-5340-9794-77477DB742D1}" type="pres">
      <dgm:prSet presAssocID="{694BA9B4-E080-6C47-B81E-738D3A6E7E82}" presName="composite" presStyleCnt="0"/>
      <dgm:spPr/>
    </dgm:pt>
    <dgm:pt modelId="{1988EABA-BB1D-CF40-8332-03B07AED1238}" type="pres">
      <dgm:prSet presAssocID="{694BA9B4-E080-6C47-B81E-738D3A6E7E82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82312346-BEAB-1B42-8EE2-992D4235770A}" type="pres">
      <dgm:prSet presAssocID="{694BA9B4-E080-6C47-B81E-738D3A6E7E82}" presName="desTx" presStyleLbl="alignAccFollowNode1" presStyleIdx="0" presStyleCnt="3">
        <dgm:presLayoutVars>
          <dgm:bulletEnabled val="1"/>
        </dgm:presLayoutVars>
      </dgm:prSet>
      <dgm:spPr/>
    </dgm:pt>
    <dgm:pt modelId="{D33517B2-C3F1-A645-879E-3C5AB239FB20}" type="pres">
      <dgm:prSet presAssocID="{AC285774-255F-8F4F-8F93-E58535461420}" presName="space" presStyleCnt="0"/>
      <dgm:spPr/>
    </dgm:pt>
    <dgm:pt modelId="{EBCB894E-D932-7D48-80D9-CD115E16DB1C}" type="pres">
      <dgm:prSet presAssocID="{F27A9FB0-4767-0340-A41D-AED282127C97}" presName="composite" presStyleCnt="0"/>
      <dgm:spPr/>
    </dgm:pt>
    <dgm:pt modelId="{0177297B-AA57-5B47-848F-6B7C1075F4EA}" type="pres">
      <dgm:prSet presAssocID="{F27A9FB0-4767-0340-A41D-AED282127C97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EF78A745-5783-DC4F-A126-D672A712C95F}" type="pres">
      <dgm:prSet presAssocID="{F27A9FB0-4767-0340-A41D-AED282127C97}" presName="desTx" presStyleLbl="alignAccFollowNode1" presStyleIdx="1" presStyleCnt="3">
        <dgm:presLayoutVars>
          <dgm:bulletEnabled val="1"/>
        </dgm:presLayoutVars>
      </dgm:prSet>
      <dgm:spPr/>
    </dgm:pt>
    <dgm:pt modelId="{EA2EFACB-CC9F-A846-8EA4-463516CB102A}" type="pres">
      <dgm:prSet presAssocID="{08D18AE5-F70C-0A47-AA49-9F710B0152C2}" presName="space" presStyleCnt="0"/>
      <dgm:spPr/>
    </dgm:pt>
    <dgm:pt modelId="{7FA83779-FFFF-4B44-BFDA-06FC740DC8D8}" type="pres">
      <dgm:prSet presAssocID="{E6AA8868-7E29-AD4E-AAF8-46DAED37BC60}" presName="composite" presStyleCnt="0"/>
      <dgm:spPr/>
    </dgm:pt>
    <dgm:pt modelId="{1B953B07-8C8C-CA43-8920-5CFA1B4AB026}" type="pres">
      <dgm:prSet presAssocID="{E6AA8868-7E29-AD4E-AAF8-46DAED37BC60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C96CAF52-19FC-1B44-9F2A-6973066B7608}" type="pres">
      <dgm:prSet presAssocID="{E6AA8868-7E29-AD4E-AAF8-46DAED37BC60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25F39509-4546-DD41-8C49-D18A75CE9404}" srcId="{E6AA8868-7E29-AD4E-AAF8-46DAED37BC60}" destId="{C6427D4E-9D4C-D446-9853-6E81AD1B3DCE}" srcOrd="0" destOrd="0" parTransId="{9D9BA9E4-33F3-C946-B3B5-93D43ED7890B}" sibTransId="{680E9A33-3E7B-1F4F-AB46-92FB8C578144}"/>
    <dgm:cxn modelId="{7BDC1314-9708-9440-A328-3C0B68213E2D}" type="presOf" srcId="{BB93CA41-B5DA-A848-B9E0-2AEE07D27AB2}" destId="{C96CAF52-19FC-1B44-9F2A-6973066B7608}" srcOrd="0" destOrd="1" presId="urn:microsoft.com/office/officeart/2005/8/layout/hList1"/>
    <dgm:cxn modelId="{F9CF5817-E857-5D4B-9750-981C4984967A}" type="presOf" srcId="{4ADA1C78-C0D0-4F47-83D3-77FE0F25F81C}" destId="{82312346-BEAB-1B42-8EE2-992D4235770A}" srcOrd="0" destOrd="0" presId="urn:microsoft.com/office/officeart/2005/8/layout/hList1"/>
    <dgm:cxn modelId="{581C6A1C-D28F-EC42-8E5A-BE4868F45554}" type="presOf" srcId="{E6AA8868-7E29-AD4E-AAF8-46DAED37BC60}" destId="{1B953B07-8C8C-CA43-8920-5CFA1B4AB026}" srcOrd="0" destOrd="0" presId="urn:microsoft.com/office/officeart/2005/8/layout/hList1"/>
    <dgm:cxn modelId="{904A0E1E-3AD4-0B49-BC41-272E3A32E6CE}" type="presOf" srcId="{3FBDAF70-3ADC-074B-8063-CF9E4B2022A1}" destId="{EF78A745-5783-DC4F-A126-D672A712C95F}" srcOrd="0" destOrd="0" presId="urn:microsoft.com/office/officeart/2005/8/layout/hList1"/>
    <dgm:cxn modelId="{C32ADA20-9342-4843-AEE9-5E3715822FAB}" srcId="{E6AA8868-7E29-AD4E-AAF8-46DAED37BC60}" destId="{BB93CA41-B5DA-A848-B9E0-2AEE07D27AB2}" srcOrd="1" destOrd="0" parTransId="{D1592B6E-78F3-3745-86AC-40D46E17C200}" sibTransId="{12AF49DD-9437-F741-B1F7-2CFD0B3E7F1F}"/>
    <dgm:cxn modelId="{5C288229-3AC2-B143-87B0-20679CA61BB1}" type="presOf" srcId="{F27A9FB0-4767-0340-A41D-AED282127C97}" destId="{0177297B-AA57-5B47-848F-6B7C1075F4EA}" srcOrd="0" destOrd="0" presId="urn:microsoft.com/office/officeart/2005/8/layout/hList1"/>
    <dgm:cxn modelId="{1E9F5545-7A15-854D-95E0-73E68B5DFA79}" srcId="{694BA9B4-E080-6C47-B81E-738D3A6E7E82}" destId="{52872F04-A713-AB4E-8A7E-081195C2F846}" srcOrd="1" destOrd="0" parTransId="{5B9E2782-3D64-614F-898A-4F2FFA524CF5}" sibTransId="{633E1828-52C4-8848-9F86-4B18EE0EBE1F}"/>
    <dgm:cxn modelId="{34E7FE4F-F7BA-694C-8B0B-FB23FB169BE2}" type="presOf" srcId="{204F7853-97AA-7640-8584-C1E71A9BC037}" destId="{EF78A745-5783-DC4F-A126-D672A712C95F}" srcOrd="0" destOrd="2" presId="urn:microsoft.com/office/officeart/2005/8/layout/hList1"/>
    <dgm:cxn modelId="{6BBADE63-4B69-7240-8F7A-431F97E3A195}" srcId="{6A6A1022-B3F4-F044-9E0B-52D11A55853C}" destId="{F27A9FB0-4767-0340-A41D-AED282127C97}" srcOrd="1" destOrd="0" parTransId="{6E3639AE-441B-0D40-8269-BE6D9F10206A}" sibTransId="{08D18AE5-F70C-0A47-AA49-9F710B0152C2}"/>
    <dgm:cxn modelId="{C84CF16D-7877-7148-8CED-FBB08D56960B}" type="presOf" srcId="{6A6A1022-B3F4-F044-9E0B-52D11A55853C}" destId="{4F4483D6-C076-9745-88A0-590AB16B8B20}" srcOrd="0" destOrd="0" presId="urn:microsoft.com/office/officeart/2005/8/layout/hList1"/>
    <dgm:cxn modelId="{E03E9772-5518-D948-BF98-AA1A5CCCD8EA}" srcId="{F27A9FB0-4767-0340-A41D-AED282127C97}" destId="{986C4762-E20B-C841-A74D-DCDA242BFF07}" srcOrd="1" destOrd="0" parTransId="{8F15DDDA-A4D9-4C4B-AC8C-218719691A93}" sibTransId="{7D04BC13-71ED-2A45-B004-40A5091E6934}"/>
    <dgm:cxn modelId="{510AEE87-8395-8046-9D20-8B165501ADA4}" srcId="{6A6A1022-B3F4-F044-9E0B-52D11A55853C}" destId="{E6AA8868-7E29-AD4E-AAF8-46DAED37BC60}" srcOrd="2" destOrd="0" parTransId="{B8004ECC-CC5D-4C4D-86E1-E8535396A98A}" sibTransId="{467B45D1-C55A-6841-9E02-A6A8AE7A2192}"/>
    <dgm:cxn modelId="{ACA105A1-7836-804F-A015-F91722DB1C61}" srcId="{6A6A1022-B3F4-F044-9E0B-52D11A55853C}" destId="{694BA9B4-E080-6C47-B81E-738D3A6E7E82}" srcOrd="0" destOrd="0" parTransId="{9841DC15-0F8E-C34E-957A-4EF2B3780E5E}" sibTransId="{AC285774-255F-8F4F-8F93-E58535461420}"/>
    <dgm:cxn modelId="{EA24FAAA-5E55-0944-942C-F2CEB3C827A0}" srcId="{694BA9B4-E080-6C47-B81E-738D3A6E7E82}" destId="{4ADA1C78-C0D0-4F47-83D3-77FE0F25F81C}" srcOrd="0" destOrd="0" parTransId="{A9E0D2B9-9C53-A64D-B5B9-47D1EA7A90E7}" sibTransId="{E4CD3858-2F0E-CA4D-AD37-EF4720FF8EDE}"/>
    <dgm:cxn modelId="{22F3A4BB-6870-174D-AF7C-3825A68679D9}" type="presOf" srcId="{C6427D4E-9D4C-D446-9853-6E81AD1B3DCE}" destId="{C96CAF52-19FC-1B44-9F2A-6973066B7608}" srcOrd="0" destOrd="0" presId="urn:microsoft.com/office/officeart/2005/8/layout/hList1"/>
    <dgm:cxn modelId="{063A3CCC-899C-0742-847C-FDB56D84A0C7}" type="presOf" srcId="{694BA9B4-E080-6C47-B81E-738D3A6E7E82}" destId="{1988EABA-BB1D-CF40-8332-03B07AED1238}" srcOrd="0" destOrd="0" presId="urn:microsoft.com/office/officeart/2005/8/layout/hList1"/>
    <dgm:cxn modelId="{EA69CAD1-431C-C14B-A059-875CF5A36EDE}" srcId="{F27A9FB0-4767-0340-A41D-AED282127C97}" destId="{204F7853-97AA-7640-8584-C1E71A9BC037}" srcOrd="2" destOrd="0" parTransId="{41AD4F36-501A-7647-9424-AC85DC868A48}" sibTransId="{EAFD294E-D8E1-EB4E-9485-537E6DEE3081}"/>
    <dgm:cxn modelId="{DDF764E0-F3AE-9047-A690-C40095057BE6}" type="presOf" srcId="{986C4762-E20B-C841-A74D-DCDA242BFF07}" destId="{EF78A745-5783-DC4F-A126-D672A712C95F}" srcOrd="0" destOrd="1" presId="urn:microsoft.com/office/officeart/2005/8/layout/hList1"/>
    <dgm:cxn modelId="{E517CDFA-A651-0F44-A798-0F4DC11E717F}" type="presOf" srcId="{52872F04-A713-AB4E-8A7E-081195C2F846}" destId="{82312346-BEAB-1B42-8EE2-992D4235770A}" srcOrd="0" destOrd="1" presId="urn:microsoft.com/office/officeart/2005/8/layout/hList1"/>
    <dgm:cxn modelId="{E399F5FC-CB58-2644-B5D4-AB38F47B31F0}" srcId="{F27A9FB0-4767-0340-A41D-AED282127C97}" destId="{3FBDAF70-3ADC-074B-8063-CF9E4B2022A1}" srcOrd="0" destOrd="0" parTransId="{7E56BBB2-624F-8B48-957E-9CD5349C83E6}" sibTransId="{30DA1CAF-24FC-014A-A0AD-40428B042868}"/>
    <dgm:cxn modelId="{FA544EA1-5358-FB42-A5FF-A4CE4F0541E1}" type="presParOf" srcId="{4F4483D6-C076-9745-88A0-590AB16B8B20}" destId="{9DD9458B-33D4-5340-9794-77477DB742D1}" srcOrd="0" destOrd="0" presId="urn:microsoft.com/office/officeart/2005/8/layout/hList1"/>
    <dgm:cxn modelId="{D9ABB50E-6CA3-4D4F-9D75-305B1E05BA3A}" type="presParOf" srcId="{9DD9458B-33D4-5340-9794-77477DB742D1}" destId="{1988EABA-BB1D-CF40-8332-03B07AED1238}" srcOrd="0" destOrd="0" presId="urn:microsoft.com/office/officeart/2005/8/layout/hList1"/>
    <dgm:cxn modelId="{B3081AC5-2A78-2845-BB56-B8E1B2CB30A0}" type="presParOf" srcId="{9DD9458B-33D4-5340-9794-77477DB742D1}" destId="{82312346-BEAB-1B42-8EE2-992D4235770A}" srcOrd="1" destOrd="0" presId="urn:microsoft.com/office/officeart/2005/8/layout/hList1"/>
    <dgm:cxn modelId="{9FBC0E16-88D9-B34F-A318-7161B8665CB3}" type="presParOf" srcId="{4F4483D6-C076-9745-88A0-590AB16B8B20}" destId="{D33517B2-C3F1-A645-879E-3C5AB239FB20}" srcOrd="1" destOrd="0" presId="urn:microsoft.com/office/officeart/2005/8/layout/hList1"/>
    <dgm:cxn modelId="{2B4300C4-BA67-654D-9D1C-DA15C95CAE7A}" type="presParOf" srcId="{4F4483D6-C076-9745-88A0-590AB16B8B20}" destId="{EBCB894E-D932-7D48-80D9-CD115E16DB1C}" srcOrd="2" destOrd="0" presId="urn:microsoft.com/office/officeart/2005/8/layout/hList1"/>
    <dgm:cxn modelId="{FB26E7EB-9780-0C4B-A37B-3B75209D3CFC}" type="presParOf" srcId="{EBCB894E-D932-7D48-80D9-CD115E16DB1C}" destId="{0177297B-AA57-5B47-848F-6B7C1075F4EA}" srcOrd="0" destOrd="0" presId="urn:microsoft.com/office/officeart/2005/8/layout/hList1"/>
    <dgm:cxn modelId="{7D1DE2E4-97E8-B747-83E9-1E0750966EE3}" type="presParOf" srcId="{EBCB894E-D932-7D48-80D9-CD115E16DB1C}" destId="{EF78A745-5783-DC4F-A126-D672A712C95F}" srcOrd="1" destOrd="0" presId="urn:microsoft.com/office/officeart/2005/8/layout/hList1"/>
    <dgm:cxn modelId="{87AFF359-C5CF-9541-8948-6F0B0F9D3685}" type="presParOf" srcId="{4F4483D6-C076-9745-88A0-590AB16B8B20}" destId="{EA2EFACB-CC9F-A846-8EA4-463516CB102A}" srcOrd="3" destOrd="0" presId="urn:microsoft.com/office/officeart/2005/8/layout/hList1"/>
    <dgm:cxn modelId="{8379CC46-AD2C-9F4A-92F6-1FE22737726D}" type="presParOf" srcId="{4F4483D6-C076-9745-88A0-590AB16B8B20}" destId="{7FA83779-FFFF-4B44-BFDA-06FC740DC8D8}" srcOrd="4" destOrd="0" presId="urn:microsoft.com/office/officeart/2005/8/layout/hList1"/>
    <dgm:cxn modelId="{32A5EF5A-D599-6849-9532-66D64BB72C8F}" type="presParOf" srcId="{7FA83779-FFFF-4B44-BFDA-06FC740DC8D8}" destId="{1B953B07-8C8C-CA43-8920-5CFA1B4AB026}" srcOrd="0" destOrd="0" presId="urn:microsoft.com/office/officeart/2005/8/layout/hList1"/>
    <dgm:cxn modelId="{373D6392-6E1A-834B-B16A-A58DB0BE0538}" type="presParOf" srcId="{7FA83779-FFFF-4B44-BFDA-06FC740DC8D8}" destId="{C96CAF52-19FC-1B44-9F2A-6973066B760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88EABA-BB1D-CF40-8332-03B07AED1238}">
      <dsp:nvSpPr>
        <dsp:cNvPr id="0" name=""/>
        <dsp:cNvSpPr/>
      </dsp:nvSpPr>
      <dsp:spPr>
        <a:xfrm>
          <a:off x="3286" y="45454"/>
          <a:ext cx="3203971" cy="10142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Training System</a:t>
          </a:r>
        </a:p>
      </dsp:txBody>
      <dsp:txXfrm>
        <a:off x="3286" y="45454"/>
        <a:ext cx="3203971" cy="1014295"/>
      </dsp:txXfrm>
    </dsp:sp>
    <dsp:sp modelId="{82312346-BEAB-1B42-8EE2-992D4235770A}">
      <dsp:nvSpPr>
        <dsp:cNvPr id="0" name=""/>
        <dsp:cNvSpPr/>
      </dsp:nvSpPr>
      <dsp:spPr>
        <a:xfrm>
          <a:off x="3286" y="1059749"/>
          <a:ext cx="3203971" cy="324613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Builds / updates models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Runs offline (daily / weekly)</a:t>
          </a:r>
        </a:p>
      </dsp:txBody>
      <dsp:txXfrm>
        <a:off x="3286" y="1059749"/>
        <a:ext cx="3203971" cy="3246134"/>
      </dsp:txXfrm>
    </dsp:sp>
    <dsp:sp modelId="{0177297B-AA57-5B47-848F-6B7C1075F4EA}">
      <dsp:nvSpPr>
        <dsp:cNvPr id="0" name=""/>
        <dsp:cNvSpPr/>
      </dsp:nvSpPr>
      <dsp:spPr>
        <a:xfrm>
          <a:off x="3655814" y="45454"/>
          <a:ext cx="3203971" cy="10142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Inference system</a:t>
          </a:r>
        </a:p>
      </dsp:txBody>
      <dsp:txXfrm>
        <a:off x="3655814" y="45454"/>
        <a:ext cx="3203971" cy="1014295"/>
      </dsp:txXfrm>
    </dsp:sp>
    <dsp:sp modelId="{EF78A745-5783-DC4F-A126-D672A712C95F}">
      <dsp:nvSpPr>
        <dsp:cNvPr id="0" name=""/>
        <dsp:cNvSpPr/>
      </dsp:nvSpPr>
      <dsp:spPr>
        <a:xfrm>
          <a:off x="3655814" y="1059749"/>
          <a:ext cx="3203971" cy="324613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Generates forecasts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Must be reliable, fast, reproducible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Often batch (not real-time)</a:t>
          </a:r>
        </a:p>
      </dsp:txBody>
      <dsp:txXfrm>
        <a:off x="3655814" y="1059749"/>
        <a:ext cx="3203971" cy="3246134"/>
      </dsp:txXfrm>
    </dsp:sp>
    <dsp:sp modelId="{1B953B07-8C8C-CA43-8920-5CFA1B4AB026}">
      <dsp:nvSpPr>
        <dsp:cNvPr id="0" name=""/>
        <dsp:cNvSpPr/>
      </dsp:nvSpPr>
      <dsp:spPr>
        <a:xfrm>
          <a:off x="7308342" y="45454"/>
          <a:ext cx="3203971" cy="10142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Monitoring &amp; retraining system</a:t>
          </a:r>
        </a:p>
      </dsp:txBody>
      <dsp:txXfrm>
        <a:off x="7308342" y="45454"/>
        <a:ext cx="3203971" cy="1014295"/>
      </dsp:txXfrm>
    </dsp:sp>
    <dsp:sp modelId="{C96CAF52-19FC-1B44-9F2A-6973066B7608}">
      <dsp:nvSpPr>
        <dsp:cNvPr id="0" name=""/>
        <dsp:cNvSpPr/>
      </dsp:nvSpPr>
      <dsp:spPr>
        <a:xfrm>
          <a:off x="7308342" y="1059749"/>
          <a:ext cx="3203971" cy="324613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Detects drift / degradation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Check model health and retrain</a:t>
          </a:r>
        </a:p>
      </dsp:txBody>
      <dsp:txXfrm>
        <a:off x="7308342" y="1059749"/>
        <a:ext cx="3203971" cy="32461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FB212-6B08-F432-788E-659E259A61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7AA67D-24B8-1BFB-B972-E812FA3695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30A13-080A-A5CA-1ED6-31A3F331B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AC7D-53CB-7B47-BF7F-E43BD077E22A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DB067-8D01-C5C5-4279-F05463FF6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331A4-BA37-D1B8-AC9A-B82A86121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E22C1-1EED-D148-8659-284268D0F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942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3B2AF-6C55-EC23-76FD-1E49E2814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65B0A-2A2A-E575-0FD9-57FFC859C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33BEB-AB1F-BA73-45BA-D20C2BCEF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AC7D-53CB-7B47-BF7F-E43BD077E22A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8495E-7F18-44D1-7FF9-4F8533445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F5E51-BF97-C16C-9996-FE6869605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E22C1-1EED-D148-8659-284268D0F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835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12AB2-D09C-A79E-5A87-E9C84C738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8A0A6C-6923-97DB-DA7C-8119646BE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8F95-0E9A-DCC9-DF0D-318365D3C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AC7D-53CB-7B47-BF7F-E43BD077E22A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09F46-5394-5345-50BD-48FE3797D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A1924-3B4C-9261-7CE3-404E12E03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E22C1-1EED-D148-8659-284268D0F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290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1B8C7-2C67-10DC-DE88-A29FBB501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5D5C2-86FD-48F5-1C28-BFFB117A54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1806AC-4007-B311-E17C-4AA5BD99CB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972966-F36E-3B95-DBF3-42529F999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AC7D-53CB-7B47-BF7F-E43BD077E22A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038D49-04DE-FB19-681B-7DEBBD9BC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27AEFC-C507-F991-5876-91F770C5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E22C1-1EED-D148-8659-284268D0F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982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0A09A-E604-9770-1F44-C4C044736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86B48F-4DC4-1AA7-03ED-EE525C671F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8DD425-0D5F-6C23-71ED-1D3A18C8A9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C70183-6C87-E55B-233E-75BC90859A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B07F31-A0A3-CD74-0D59-06C698CE1E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3114EB-4A29-57D3-E6D6-B60A299CE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AC7D-53CB-7B47-BF7F-E43BD077E22A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78C45F-0E7E-D479-95FD-33367F496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842504-11C6-4D17-12E1-8AECD8D27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E22C1-1EED-D148-8659-284268D0F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041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7E309-D492-0F13-1587-C557E02DE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48EC58-3EED-0BC6-8027-3A12763DF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AC7D-53CB-7B47-BF7F-E43BD077E22A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F20C16-506F-DF3C-2D62-EBCE68782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30BDE6-3047-ABBE-D86F-7F2F8D868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E22C1-1EED-D148-8659-284268D0F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932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910EAC-081D-5838-345F-DD529F2F6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AC7D-53CB-7B47-BF7F-E43BD077E22A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DCD9D8-D1C4-E6F4-3B6D-0C2540EDE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0F4662-3EDB-1E24-4DC6-637CD678D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E22C1-1EED-D148-8659-284268D0F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268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F4970-ABCE-3C44-C97B-8FCA26108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2D24B-7DFC-D2F9-3DD3-F71DE3229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F98EB6-1E7E-76D4-8AC8-C1B9E5FAC9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A15EC5-D29D-60D1-802D-6DDEA6E6E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AC7D-53CB-7B47-BF7F-E43BD077E22A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DBD3AA-A1BB-AEDA-8084-5B565C79E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88DB6C-3E73-89C8-E436-2A273A8F0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E22C1-1EED-D148-8659-284268D0F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434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C6C1F-67A6-B96F-F7AA-DDCD82F71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5AB6FF-6AA8-4FC3-FBF0-6F0132E258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830792-10D8-5B1C-8D52-D32F5653F6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213818-7BE9-D215-DC3B-F55BA026D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AC7D-53CB-7B47-BF7F-E43BD077E22A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0DD941-09A8-DC0B-5B11-041DEA7B2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90A582-D7A9-5F1E-9045-4CA589954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E22C1-1EED-D148-8659-284268D0F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428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0C834-F9D3-1908-FDE1-14F70C486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2BBF26-0C4C-9BE0-965C-78428E2C51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C08B7-1155-AB85-D7CC-52716B951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AC7D-53CB-7B47-BF7F-E43BD077E22A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BE35E-CEE8-428B-FBF3-FD7B4C888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CFC6E-8C29-B12D-994C-D057FFC6A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E22C1-1EED-D148-8659-284268D0F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577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A8E2D1-8EAC-CD02-B646-FE2F387F32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A4B969-164B-5C80-EE9F-D562029D7C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A446A-852B-B627-4715-9DFEAA7A3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AC7D-53CB-7B47-BF7F-E43BD077E22A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1AFCD-68D1-FC34-124C-34D1BACDC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AEDEC-56EB-D951-AA12-D8E6C20EA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E22C1-1EED-D148-8659-284268D0F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267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B28BCC-D31C-F678-82A8-F07DE0142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46A573-3E8F-4F46-2726-16217ABC11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DF76C-56DD-093D-D781-9F84BD3BD0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BDAC7D-53CB-7B47-BF7F-E43BD077E22A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7347B-131C-9D41-9086-2CBC40ACF8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92B66-A7AC-D44D-31B5-FA30A9C1F3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FE22C1-1EED-D148-8659-284268D0F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667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ixtla/mlforecast" TargetMode="External"/><Relationship Id="rId2" Type="http://schemas.openxmlformats.org/officeDocument/2006/relationships/hyperlink" Target="https://github.com/Nixtla/statsforecas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25E9C-5BE9-4736-7B13-39B96E9295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Time Series Forecasting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F20F6A-F0EC-A8AC-8051-CA3E60D232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Overview and Discussion</a:t>
            </a:r>
          </a:p>
        </p:txBody>
      </p:sp>
    </p:spTree>
    <p:extLst>
      <p:ext uri="{BB962C8B-B14F-4D97-AF65-F5344CB8AC3E}">
        <p14:creationId xmlns:p14="http://schemas.microsoft.com/office/powerpoint/2010/main" val="906209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4B853-E325-04B4-89F1-BC6602623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6FFED-E44F-35FB-1DAA-73827E949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</a:p>
          <a:p>
            <a:r>
              <a:rPr lang="en-US" dirty="0"/>
              <a:t>Baselining</a:t>
            </a:r>
          </a:p>
          <a:p>
            <a:r>
              <a:rPr lang="en-US" dirty="0"/>
              <a:t>Machine Learning (Global Forecast Model)</a:t>
            </a:r>
          </a:p>
          <a:p>
            <a:r>
              <a:rPr lang="en-US" dirty="0"/>
              <a:t>Deployment</a:t>
            </a:r>
          </a:p>
        </p:txBody>
      </p:sp>
    </p:spTree>
    <p:extLst>
      <p:ext uri="{BB962C8B-B14F-4D97-AF65-F5344CB8AC3E}">
        <p14:creationId xmlns:p14="http://schemas.microsoft.com/office/powerpoint/2010/main" val="1603675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1332F-7B8F-4532-273B-D6A521994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AD30D-F3BD-DE5B-9EC5-FD31D1C19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Missing data</a:t>
            </a:r>
          </a:p>
          <a:p>
            <a:r>
              <a:rPr lang="en-US" dirty="0"/>
              <a:t>Visualization</a:t>
            </a:r>
          </a:p>
          <a:p>
            <a:r>
              <a:rPr lang="en-US" dirty="0"/>
              <a:t>Decomposition</a:t>
            </a:r>
          </a:p>
          <a:p>
            <a:r>
              <a:rPr lang="en-US" dirty="0"/>
              <a:t>Outlier handling</a:t>
            </a:r>
          </a:p>
        </p:txBody>
      </p:sp>
    </p:spTree>
    <p:extLst>
      <p:ext uri="{BB962C8B-B14F-4D97-AF65-F5344CB8AC3E}">
        <p14:creationId xmlns:p14="http://schemas.microsoft.com/office/powerpoint/2010/main" val="1914779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809DF-789E-0A98-FBEB-E1DF9C5D4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missing data – few timepoints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428CE-A399-935D-9813-F71B0F6CE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Simpler techniques</a:t>
            </a:r>
          </a:p>
          <a:p>
            <a:pPr lvl="1"/>
            <a:r>
              <a:rPr lang="en-US" dirty="0"/>
              <a:t>Last Observation Carried Forward or Forward Fill</a:t>
            </a:r>
          </a:p>
          <a:p>
            <a:pPr lvl="1"/>
            <a:r>
              <a:rPr lang="en-US" dirty="0"/>
              <a:t>Next Observation Carried Backward of Backward Fill</a:t>
            </a:r>
          </a:p>
          <a:p>
            <a:pPr lvl="1"/>
            <a:r>
              <a:rPr lang="en-US" dirty="0"/>
              <a:t>Nearest Interpolation</a:t>
            </a:r>
          </a:p>
          <a:p>
            <a:pPr lvl="1"/>
            <a:r>
              <a:rPr lang="en-US" dirty="0"/>
              <a:t>Mean Value Fill</a:t>
            </a:r>
          </a:p>
          <a:p>
            <a:r>
              <a:rPr lang="en-US" dirty="0"/>
              <a:t>Interpolation</a:t>
            </a:r>
          </a:p>
          <a:p>
            <a:pPr lvl="1"/>
            <a:r>
              <a:rPr lang="en-US" dirty="0"/>
              <a:t>Linear Interpolation</a:t>
            </a:r>
          </a:p>
          <a:p>
            <a:pPr lvl="1"/>
            <a:r>
              <a:rPr lang="en-US" dirty="0"/>
              <a:t>Spline, Polynomial, and Other Interpolations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129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701C3-51C4-95DF-1B48-8AA5CAFCC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bigger gaps</a:t>
            </a:r>
          </a:p>
        </p:txBody>
      </p:sp>
      <p:pic>
        <p:nvPicPr>
          <p:cNvPr id="5" name="Content Placeholder 4" descr="A graph showing the amount of energy consumption&#10;&#10;AI-generated content may be incorrect.">
            <a:extLst>
              <a:ext uri="{FF2B5EF4-FFF2-40B4-BE49-F238E27FC236}">
                <a16:creationId xmlns:a16="http://schemas.microsoft.com/office/drawing/2014/main" id="{53EF1A25-3DD8-DEB5-BD72-9D54F3B78C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4340" y="1825625"/>
            <a:ext cx="8123319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435C6A-2DC4-3380-F0E3-A95C1166D467}"/>
              </a:ext>
            </a:extLst>
          </p:cNvPr>
          <p:cNvSpPr txBox="1"/>
          <p:nvPr/>
        </p:nvSpPr>
        <p:spPr>
          <a:xfrm>
            <a:off x="443751" y="6308209"/>
            <a:ext cx="74252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Ref: Modern Time Series Forecasting with Python, Second Edition, Manu Joseph, Jeffrey Tackes</a:t>
            </a:r>
          </a:p>
        </p:txBody>
      </p:sp>
    </p:spTree>
    <p:extLst>
      <p:ext uri="{BB962C8B-B14F-4D97-AF65-F5344CB8AC3E}">
        <p14:creationId xmlns:p14="http://schemas.microsoft.com/office/powerpoint/2010/main" val="1130689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B5B90-AC17-7DF1-3BF3-76C369AB7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bigger gaps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DFD45-9DC9-190F-A15B-7CFCDDE34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Imputing with the previous day</a:t>
            </a:r>
          </a:p>
          <a:p>
            <a:r>
              <a:rPr lang="en-US" dirty="0"/>
              <a:t>Hourly average profile</a:t>
            </a:r>
          </a:p>
          <a:p>
            <a:r>
              <a:rPr lang="en-US" dirty="0"/>
              <a:t>The hourly average for each weekday</a:t>
            </a:r>
          </a:p>
          <a:p>
            <a:r>
              <a:rPr lang="en-US" dirty="0"/>
              <a:t>Seasonal interpolation</a:t>
            </a:r>
          </a:p>
          <a:p>
            <a:pPr lvl="1"/>
            <a:r>
              <a:rPr lang="en-US" dirty="0"/>
              <a:t>Fills missing data by temporarily removing repeating patterns, filling gaps smoothly, and then restoring those patterns.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31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278CD-157B-3E0D-2984-BD4A19702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35C2422-101C-8F06-4911-7C50FE6F58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3744" y="1207499"/>
            <a:ext cx="6956733" cy="543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224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552C4-0B21-6A5E-8898-686C0E4C6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Visualization: Macro Patterns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21E1995-A4D3-7423-D373-C13A2096AB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861958"/>
            <a:ext cx="8281669" cy="3801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966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EB9AC-50DF-BABC-C727-A8074402D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Visualization: Seasonality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4081C03-2516-CAEE-620C-333D752E55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78334"/>
            <a:ext cx="9210368" cy="509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166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9268F-1F67-ACDD-C199-A80FE2CED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Visualization: Correlation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89AF39A-3AC5-B2C7-5122-C4EE60F592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8682" y="1690687"/>
            <a:ext cx="9908391" cy="3746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829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478C4-EF35-2B17-878E-80D6557D5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Decomposition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B1168-7CFB-B67E-0D14-2FD6554D4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Time series data = trend + seasonality + residual</a:t>
            </a:r>
          </a:p>
          <a:p>
            <a:r>
              <a:rPr lang="en-US" dirty="0"/>
              <a:t>Remove trend </a:t>
            </a:r>
          </a:p>
          <a:p>
            <a:pPr lvl="1"/>
            <a:r>
              <a:rPr lang="en-US" dirty="0"/>
              <a:t>diff(t) = x(t) − x(t−1)</a:t>
            </a:r>
          </a:p>
          <a:p>
            <a:r>
              <a:rPr lang="en-US" dirty="0"/>
              <a:t>Remove seasonality</a:t>
            </a:r>
          </a:p>
          <a:p>
            <a:pPr lvl="1"/>
            <a:r>
              <a:rPr lang="en-US" dirty="0"/>
              <a:t>Weekly</a:t>
            </a:r>
          </a:p>
          <a:p>
            <a:pPr lvl="2"/>
            <a:r>
              <a:rPr lang="en-US" dirty="0"/>
              <a:t>x(t) − x(t−7)</a:t>
            </a:r>
          </a:p>
          <a:p>
            <a:pPr lvl="1"/>
            <a:r>
              <a:rPr lang="en-US" dirty="0"/>
              <a:t>Yearly</a:t>
            </a:r>
          </a:p>
          <a:p>
            <a:pPr lvl="2"/>
            <a:r>
              <a:rPr lang="en-US" dirty="0"/>
              <a:t>x(t) − x(t−365)</a:t>
            </a:r>
          </a:p>
        </p:txBody>
      </p:sp>
    </p:spTree>
    <p:extLst>
      <p:ext uri="{BB962C8B-B14F-4D97-AF65-F5344CB8AC3E}">
        <p14:creationId xmlns:p14="http://schemas.microsoft.com/office/powerpoint/2010/main" val="39705982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4C065-5038-08B0-8123-BE81E0EE7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2F721-736B-3906-F72A-6D6A7A38A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Decomposition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BE8538F-7C74-3268-6A34-E77E3C70B5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79800" y="1325014"/>
            <a:ext cx="5232400" cy="2374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53ABDA1-3A01-2376-8043-CBBD0EDBA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9800" y="3699914"/>
            <a:ext cx="5283200" cy="237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400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CED2F-1F9E-A881-59F3-03F8CD173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3138A-1916-7A76-16A4-406FAF02F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Outlier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FF881-C837-7D8D-42AC-FED690469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Detection:</a:t>
            </a:r>
          </a:p>
          <a:p>
            <a:pPr lvl="1"/>
            <a:r>
              <a:rPr lang="en-US" dirty="0"/>
              <a:t>Standard deviation</a:t>
            </a:r>
          </a:p>
          <a:p>
            <a:pPr lvl="1"/>
            <a:r>
              <a:rPr lang="en-US" dirty="0"/>
              <a:t>IQR</a:t>
            </a:r>
          </a:p>
          <a:p>
            <a:pPr lvl="1"/>
            <a:r>
              <a:rPr lang="en-US" dirty="0"/>
              <a:t>Isolation Forest</a:t>
            </a:r>
          </a:p>
          <a:p>
            <a:r>
              <a:rPr lang="en-US" dirty="0"/>
              <a:t>Removal:</a:t>
            </a:r>
          </a:p>
          <a:p>
            <a:pPr lvl="1"/>
            <a:r>
              <a:rPr lang="en-US" dirty="0"/>
              <a:t>Do not blindly remove outliers as they may contain information</a:t>
            </a:r>
          </a:p>
          <a:p>
            <a:pPr lvl="1"/>
            <a:r>
              <a:rPr lang="en-US" dirty="0"/>
              <a:t>Replace with a heuristic such as the maximum, minimum, and 75th percentile</a:t>
            </a:r>
          </a:p>
          <a:p>
            <a:pPr lvl="1"/>
            <a:r>
              <a:rPr lang="en-US" dirty="0"/>
              <a:t>Consider the outliers as missing data</a:t>
            </a:r>
          </a:p>
          <a:p>
            <a:r>
              <a:rPr lang="en-US" dirty="0"/>
              <a:t>Modern algorithms are capable of handling outliers</a:t>
            </a:r>
          </a:p>
        </p:txBody>
      </p:sp>
    </p:spTree>
    <p:extLst>
      <p:ext uri="{BB962C8B-B14F-4D97-AF65-F5344CB8AC3E}">
        <p14:creationId xmlns:p14="http://schemas.microsoft.com/office/powerpoint/2010/main" val="33430248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F0513-CA60-64A2-97C4-4AC57DB38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21E45-2BFF-C64B-ECBB-64C1D81A4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Setting up a test harness</a:t>
            </a:r>
          </a:p>
          <a:p>
            <a:r>
              <a:rPr lang="en-US" dirty="0"/>
              <a:t>Generating strong baseline forecasts (classical and statistical methods)</a:t>
            </a:r>
          </a:p>
          <a:p>
            <a:r>
              <a:rPr lang="en-US" dirty="0"/>
              <a:t>Assessing the </a:t>
            </a:r>
            <a:r>
              <a:rPr lang="en-US" dirty="0" err="1"/>
              <a:t>forecastability</a:t>
            </a:r>
            <a:r>
              <a:rPr lang="en-US" dirty="0"/>
              <a:t> of a time series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0730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F8A58-C54D-A3D7-43D0-A4CF8470B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a test harness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26A30-CCF5-6B93-FB41-E295E55C0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Train, Validation and Test</a:t>
            </a:r>
          </a:p>
          <a:p>
            <a:r>
              <a:rPr lang="en-US" dirty="0"/>
              <a:t>Evaluation metric</a:t>
            </a:r>
          </a:p>
          <a:p>
            <a:pPr lvl="1"/>
            <a:r>
              <a:rPr lang="en-US" dirty="0"/>
              <a:t>Mean Absolute Error (MAE)</a:t>
            </a:r>
          </a:p>
          <a:p>
            <a:pPr lvl="1"/>
            <a:r>
              <a:rPr lang="en-US" dirty="0"/>
              <a:t>Mean Square Error (MSE)</a:t>
            </a:r>
          </a:p>
          <a:p>
            <a:pPr lvl="1"/>
            <a:r>
              <a:rPr lang="en-US" dirty="0"/>
              <a:t>Mean Absolute Scaled Error (MASE)</a:t>
            </a:r>
          </a:p>
          <a:p>
            <a:pPr lvl="1"/>
            <a:r>
              <a:rPr lang="en-US" dirty="0"/>
              <a:t>Forecast Bias (FB)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6002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07960-27C5-5794-93E7-30DBAD508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strong baseline forecasts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575DF-9DB4-B2D4-AAD8-FA4616C35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Naïve Forecast</a:t>
            </a:r>
          </a:p>
          <a:p>
            <a:r>
              <a:rPr lang="en-US" dirty="0"/>
              <a:t>Seasonal Naïve Forecast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660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69487-A03B-AEC6-32E1-23DA65EC2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09E01-83AA-60EE-1AD6-F89DF28EB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strong baseline forecasts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76CC33-AD1A-3BB3-F4AB-40648F1CC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727" y="1467827"/>
            <a:ext cx="5397500" cy="2374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9C2B2F-2935-8D37-3C98-837A7A523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8727" y="3964843"/>
            <a:ext cx="5397500" cy="237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6739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C75B0-245D-D4AB-D4CA-232505562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8848E-C2F6-3B02-9175-A102A006C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strong baseline forecasts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6ADAD-14A8-D0D9-E7B8-6AB04351F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Naïve Forecast</a:t>
            </a:r>
          </a:p>
          <a:p>
            <a:r>
              <a:rPr lang="en-US" dirty="0"/>
              <a:t>Seasonal Naïve Forecast</a:t>
            </a:r>
          </a:p>
          <a:p>
            <a:r>
              <a:rPr lang="en-US" dirty="0"/>
              <a:t>Exponential smoothing</a:t>
            </a:r>
          </a:p>
          <a:p>
            <a:pPr lvl="1"/>
            <a:r>
              <a:rPr lang="en-US" dirty="0"/>
              <a:t>Calculate rolling mean with decreasing weights as we look farther back</a:t>
            </a:r>
          </a:p>
          <a:p>
            <a:pPr lvl="1"/>
            <a:r>
              <a:rPr lang="en-US" dirty="0"/>
              <a:t>Modeled around trend and seasonality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2272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F6222-B889-2916-45FB-C3EA83100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A4021-A32E-DAAD-2587-AFCC78C4C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strong baseline forecasts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E15AEE-F928-FBBC-5E60-8C1C3E8A8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66" y="2335335"/>
            <a:ext cx="3355242" cy="14763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9D9CFF-F558-186D-FA1B-C73BDAE36E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66" y="3882781"/>
            <a:ext cx="3355242" cy="14763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AC2BC34-90E6-59BD-4170-0D8500CCFC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4831" y="2335335"/>
            <a:ext cx="6872164" cy="3023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1658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D377C-2BFC-1E34-BE17-174EC431B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DBA4E-9401-5F21-0C89-BD5B8A7E9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strong baseline forecasts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AD7D7-1BF9-B296-2C4C-1B48AAF759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Naïve Forecast</a:t>
            </a:r>
          </a:p>
          <a:p>
            <a:r>
              <a:rPr lang="en-US" dirty="0"/>
              <a:t>Seasonal Naïve Forecast</a:t>
            </a:r>
          </a:p>
          <a:p>
            <a:r>
              <a:rPr lang="en-US" dirty="0"/>
              <a:t>Exponential smoothing</a:t>
            </a:r>
          </a:p>
          <a:p>
            <a:r>
              <a:rPr lang="en-US" dirty="0" err="1"/>
              <a:t>AutoRegressive</a:t>
            </a:r>
            <a:r>
              <a:rPr lang="en-US" dirty="0"/>
              <a:t> Integrated Moving Average (ARIMA)</a:t>
            </a:r>
          </a:p>
          <a:p>
            <a:pPr lvl="1"/>
            <a:r>
              <a:rPr lang="en-US" dirty="0"/>
              <a:t>relies on autocorrelation (the correlation of y(t) with y(t-1), y(t-2), and so on)</a:t>
            </a:r>
          </a:p>
        </p:txBody>
      </p:sp>
    </p:spTree>
    <p:extLst>
      <p:ext uri="{BB962C8B-B14F-4D97-AF65-F5344CB8AC3E}">
        <p14:creationId xmlns:p14="http://schemas.microsoft.com/office/powerpoint/2010/main" val="4209237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A2979-F7B5-F154-9087-21A9BA35D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8F6B0-59B6-C2CF-7FC5-36A7D3C59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strong baseline forecasts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AA9149-6B16-408C-5EF7-6F4731860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589" y="1690688"/>
            <a:ext cx="3355242" cy="14763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DACDA3-7507-1543-6CED-E51B70E48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589" y="3331796"/>
            <a:ext cx="3355242" cy="14763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A7671CE-A200-D3B8-3378-DAAB4A60BF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589" y="4963223"/>
            <a:ext cx="3355242" cy="14763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152883-E81A-ED98-0488-79495C5612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6512" y="1690688"/>
            <a:ext cx="7085032" cy="31174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C77C8E-C37D-6B22-9E07-CD6783888479}"/>
              </a:ext>
            </a:extLst>
          </p:cNvPr>
          <p:cNvSpPr txBox="1"/>
          <p:nvPr/>
        </p:nvSpPr>
        <p:spPr>
          <a:xfrm>
            <a:off x="4302369" y="5263662"/>
            <a:ext cx="55129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Flat Predictions Because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AutoARIMA</a:t>
            </a:r>
            <a:r>
              <a:rPr lang="en-US" dirty="0"/>
              <a:t> is not good for short spikes (daily sales)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Settles to seasonal mean</a:t>
            </a:r>
          </a:p>
        </p:txBody>
      </p:sp>
    </p:spTree>
    <p:extLst>
      <p:ext uri="{BB962C8B-B14F-4D97-AF65-F5344CB8AC3E}">
        <p14:creationId xmlns:p14="http://schemas.microsoft.com/office/powerpoint/2010/main" val="35989078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DB342-C7EC-51A3-4EEF-23BACC49E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142C4-2A09-7231-7619-58467B4E0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strong baseline forecasts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5C295-57E8-5F2D-884D-D31FB882B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Naïve Forecast</a:t>
            </a:r>
          </a:p>
          <a:p>
            <a:r>
              <a:rPr lang="en-US" dirty="0"/>
              <a:t>Seasonal Naïve Forecast</a:t>
            </a:r>
          </a:p>
          <a:p>
            <a:r>
              <a:rPr lang="en-US" dirty="0"/>
              <a:t>Exponential smoothing</a:t>
            </a:r>
          </a:p>
          <a:p>
            <a:r>
              <a:rPr lang="en-US" dirty="0" err="1"/>
              <a:t>AutoRegressive</a:t>
            </a:r>
            <a:r>
              <a:rPr lang="en-US" dirty="0"/>
              <a:t> Integrated Moving Average (ARIMA)</a:t>
            </a:r>
          </a:p>
          <a:p>
            <a:r>
              <a:rPr lang="en-US" dirty="0"/>
              <a:t>Theta Forecast</a:t>
            </a:r>
          </a:p>
        </p:txBody>
      </p:sp>
    </p:spTree>
    <p:extLst>
      <p:ext uri="{BB962C8B-B14F-4D97-AF65-F5344CB8AC3E}">
        <p14:creationId xmlns:p14="http://schemas.microsoft.com/office/powerpoint/2010/main" val="18085487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5D504-0495-674E-2DF7-BAED5CD1A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4A34A-B28E-F883-574B-7ACFB6479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strong baseline forecasts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CF1571-48D2-5846-1877-80C85828B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589" y="1690688"/>
            <a:ext cx="2487734" cy="10946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C284CE-DB8A-6348-79FA-847D1BBE1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8502" y="1690688"/>
            <a:ext cx="2487734" cy="109460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B352DAC-7CBD-F3AA-3E62-9A26F4E585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9288" y="1620812"/>
            <a:ext cx="2487734" cy="10946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7DB1983-143B-4429-B8AA-1FC86504D3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0456" y="1620812"/>
            <a:ext cx="2487734" cy="10946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E2734A-3963-AA2E-FE75-A9F4822D174D}"/>
              </a:ext>
            </a:extLst>
          </p:cNvPr>
          <p:cNvSpPr txBox="1"/>
          <p:nvPr/>
        </p:nvSpPr>
        <p:spPr>
          <a:xfrm>
            <a:off x="5819289" y="3059668"/>
            <a:ext cx="2571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Captures the pattern but not the peaks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732A32-6D27-74A4-8FE3-F1E7A33D33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788" y="2905884"/>
            <a:ext cx="5397500" cy="237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2385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97AE6-E9C4-74F6-67A7-D9D09AA81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C34CC-5E10-268A-3E41-DC6ED44CB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strong baseline forecasts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7B72E-515F-9BB5-13A0-9069E7BAF0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Naïve Forecast</a:t>
            </a:r>
          </a:p>
          <a:p>
            <a:r>
              <a:rPr lang="en-US" dirty="0"/>
              <a:t>Seasonal Naïve Forecast</a:t>
            </a:r>
          </a:p>
          <a:p>
            <a:r>
              <a:rPr lang="en-US" dirty="0"/>
              <a:t>Exponential smoothing</a:t>
            </a:r>
          </a:p>
          <a:p>
            <a:r>
              <a:rPr lang="en-US" dirty="0" err="1"/>
              <a:t>AutoRegressive</a:t>
            </a:r>
            <a:r>
              <a:rPr lang="en-US" dirty="0"/>
              <a:t> Integrated Moving Average (ARIMA)</a:t>
            </a:r>
          </a:p>
          <a:p>
            <a:r>
              <a:rPr lang="en-US" dirty="0"/>
              <a:t>Theta Forecast</a:t>
            </a:r>
          </a:p>
          <a:p>
            <a:r>
              <a:rPr lang="en-US" dirty="0"/>
              <a:t>Multiple Seasonal-Trend decomposition using LOESS (MSTL)</a:t>
            </a:r>
          </a:p>
          <a:p>
            <a:pPr lvl="1"/>
            <a:r>
              <a:rPr lang="en-US" dirty="0"/>
              <a:t>Use regression technique to extract Trends, Cycles, Seasonality and Irregularity</a:t>
            </a:r>
          </a:p>
          <a:p>
            <a:pPr lvl="1"/>
            <a:r>
              <a:rPr lang="en-US" dirty="0"/>
              <a:t>Employs non seasonal model to forecast and then add the components</a:t>
            </a:r>
          </a:p>
        </p:txBody>
      </p:sp>
    </p:spTree>
    <p:extLst>
      <p:ext uri="{BB962C8B-B14F-4D97-AF65-F5344CB8AC3E}">
        <p14:creationId xmlns:p14="http://schemas.microsoft.com/office/powerpoint/2010/main" val="6311918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0D920-52EB-EC81-234F-F6EC2B634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D980E-ABCE-F08C-B8E9-B6D639593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strong baseline forecasts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679BAE3-4491-74F3-EC42-A028B506D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621" y="1819518"/>
            <a:ext cx="8786757" cy="3866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7047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C8535-A718-7F71-A4EE-1CDB2134A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Trials: for a specific product family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41BD4-D2D1-AA54-9727-AAA03ADFF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store_nbr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in list(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df.store_nbr.unique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()):</a:t>
            </a:r>
          </a:p>
          <a:p>
            <a:pPr marL="457200" lvl="1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df_store_nbr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store_nbr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']==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store_nbr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model_name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model in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models_dict.items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pPr marL="914400" lvl="2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metrics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evaluate_model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marL="914400" lvl="2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model=model,</a:t>
            </a:r>
          </a:p>
          <a:p>
            <a:pPr marL="914400" lvl="2" indent="0"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model_name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model_name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914400" lvl="2" indent="0"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ts_train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ts_train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914400" lvl="2" indent="0"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ts_val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ts_val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914400" lvl="2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ts_train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=_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ts_train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914400" lvl="2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ts_val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=_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ts_val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914400" lvl="2" indent="0"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freq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='D',</a:t>
            </a:r>
          </a:p>
          <a:p>
            <a:pPr marL="914400" lvl="2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seasonality=7</a:t>
            </a:r>
          </a:p>
          <a:p>
            <a:pPr marL="914400" lvl="2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482092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DE336-AF2E-0604-23AF-0C4F517D1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0738E-E8F5-188D-867A-3447351F3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Trials: for a specific product family across all stores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F5E4CFF-0FAF-90A9-5AAB-38E9D3A84F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0357" y="1491272"/>
            <a:ext cx="7651686" cy="4651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9216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A58D9-AEE9-3FF2-F8B0-7E1154BC4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AF7F4-7B13-0620-F5DB-E0C69BF40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Trials: for a specific product family across all stores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4E6728E-E96D-1D53-429E-1709D3122D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3419" y="2133600"/>
            <a:ext cx="5052581" cy="3071569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B4721D2-51FE-2E10-54A0-56797DDEB9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7197390"/>
              </p:ext>
            </p:extLst>
          </p:nvPr>
        </p:nvGraphicFramePr>
        <p:xfrm>
          <a:off x="7131539" y="1502764"/>
          <a:ext cx="3571630" cy="433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1754">
                  <a:extLst>
                    <a:ext uri="{9D8B030D-6E8A-4147-A177-3AD203B41FA5}">
                      <a16:colId xmlns:a16="http://schemas.microsoft.com/office/drawing/2014/main" val="1157811550"/>
                    </a:ext>
                  </a:extLst>
                </a:gridCol>
                <a:gridCol w="1359876">
                  <a:extLst>
                    <a:ext uri="{9D8B030D-6E8A-4147-A177-3AD203B41FA5}">
                      <a16:colId xmlns:a16="http://schemas.microsoft.com/office/drawing/2014/main" val="21674199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ctr"/>
                      <a:br>
                        <a:rPr lang="en-US" dirty="0">
                          <a:effectLst/>
                        </a:rPr>
                      </a:br>
                      <a:r>
                        <a:rPr lang="en-US" dirty="0">
                          <a:effectLst/>
                        </a:rPr>
                        <a:t>Model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dirty="0" err="1">
                          <a:effectLst/>
                        </a:rPr>
                        <a:t>Num_Wins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503244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effectLst/>
                        </a:rPr>
                        <a:t>HoltWinters</a:t>
                      </a:r>
                      <a:endParaRPr lang="en-US" b="1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19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681676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effectLst/>
                        </a:rPr>
                        <a:t>MSTL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effectLst/>
                        </a:rPr>
                        <a:t>12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682263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SES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8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377155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err="1">
                          <a:effectLst/>
                        </a:rPr>
                        <a:t>AutoETS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5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630001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Naive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3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206744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err="1">
                          <a:effectLst/>
                        </a:rPr>
                        <a:t>AutoTBATS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2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868720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Theta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2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358804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Holt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1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593397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AutoARIMA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1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200258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err="1">
                          <a:effectLst/>
                        </a:rPr>
                        <a:t>SeasonalNaive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1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3015407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16382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89E6A-2011-D8ED-22DB-EA2AAAD5B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Forecastability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6CAD9-E825-BEA4-C751-16976922B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Coefficient of variation</a:t>
            </a:r>
          </a:p>
          <a:p>
            <a:pPr lvl="1"/>
            <a:r>
              <a:rPr lang="en-US" dirty="0"/>
              <a:t>How variable the series is relative to its average level?</a:t>
            </a:r>
          </a:p>
          <a:p>
            <a:r>
              <a:rPr lang="en-US" dirty="0"/>
              <a:t>Residual variability</a:t>
            </a:r>
          </a:p>
          <a:p>
            <a:pPr lvl="1"/>
            <a:r>
              <a:rPr lang="en-US" dirty="0"/>
              <a:t>How much randomness remains after removing trend and seasonality?</a:t>
            </a:r>
          </a:p>
          <a:p>
            <a:r>
              <a:rPr lang="en-US" dirty="0"/>
              <a:t>Spectral entropy</a:t>
            </a:r>
          </a:p>
          <a:p>
            <a:pPr lvl="1"/>
            <a:r>
              <a:rPr lang="en-US" dirty="0"/>
              <a:t>How spread out the signal’s energy is across frequencies?</a:t>
            </a:r>
          </a:p>
          <a:p>
            <a:r>
              <a:rPr lang="en-US" dirty="0" err="1"/>
              <a:t>Kaboudan</a:t>
            </a:r>
            <a:r>
              <a:rPr lang="en-US" dirty="0"/>
              <a:t> metric</a:t>
            </a:r>
          </a:p>
          <a:p>
            <a:pPr lvl="1"/>
            <a:r>
              <a:rPr lang="en-US" dirty="0"/>
              <a:t>How much better a model forecasts the real series compared to a shuffled version?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6270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58CEB-67E2-7A6F-5FF9-EEEA334BD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Forecastability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46BB7B1-EB21-3BCA-7E7A-12969E6C16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4785" y="1690688"/>
            <a:ext cx="3772772" cy="42976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D495A9-7975-2C1B-B021-5D1004028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557" y="1690688"/>
            <a:ext cx="3799018" cy="4297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6E8FC0-2B91-3E8B-CADF-947BD378EB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575" y="1669807"/>
            <a:ext cx="3851508" cy="429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7038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BCFEF-7D6B-6B7F-B885-D3D1C4321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For Time Series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3DF47-2C86-22D5-5E39-34B79F009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28189"/>
          </a:xfrm>
        </p:spPr>
        <p:txBody>
          <a:bodyPr/>
          <a:lstStyle/>
          <a:p>
            <a:r>
              <a:rPr lang="en-US" dirty="0"/>
              <a:t>Target transformations (log, detrend, </a:t>
            </a:r>
            <a:r>
              <a:rPr lang="en-US" dirty="0" err="1"/>
              <a:t>deseasonalize</a:t>
            </a:r>
            <a:r>
              <a:rPr lang="en-US" dirty="0"/>
              <a:t>)</a:t>
            </a:r>
          </a:p>
          <a:p>
            <a:r>
              <a:rPr lang="en-US" dirty="0"/>
              <a:t>Time-delay features (lags, rolling stats)</a:t>
            </a:r>
          </a:p>
          <a:p>
            <a:r>
              <a:rPr lang="en-US" dirty="0"/>
              <a:t>Temporal features (calendar, Fourier)</a:t>
            </a:r>
          </a:p>
          <a:p>
            <a:r>
              <a:rPr lang="en-US" dirty="0"/>
              <a:t>Regression / ML models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600DED-C013-C4BE-579E-2B648BCFF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380" y="3675397"/>
            <a:ext cx="7467600" cy="298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1353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806FC-6035-474D-24C3-31C75AE26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ML: for a specific product family across all stores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7E8496F-A913-5DE8-17DA-CF8929B7FB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67703" y="1442434"/>
            <a:ext cx="6743721" cy="4890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1934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32412-C93E-7E99-0F67-88D3661D6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vs ML methods</a:t>
            </a:r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F9C9494A-E7B0-3892-90B0-96F297A2CCC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75450" y="2559844"/>
            <a:ext cx="3975100" cy="2882900"/>
          </a:xfrm>
          <a:prstGeom prst="rect">
            <a:avLst/>
          </a:prstGeom>
        </p:spPr>
      </p:pic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3F908BC8-60B0-A02D-A3A0-33DC75371FC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838200" y="2413414"/>
            <a:ext cx="5181600" cy="3150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5583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3018B-D7EE-57F3-BB3C-0714527AE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Forecast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EDE60-6946-4BA0-5638-29D2D97B7C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Training one model per store-product combination is inefficient</a:t>
            </a:r>
          </a:p>
          <a:p>
            <a:r>
              <a:rPr lang="en-US" dirty="0"/>
              <a:t>Not able to take advantage of the entire time series (data quantity)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C5F1C3-C498-833F-9FB6-E898CF0CDF9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All related time series share a common underlying structure, even if their levels differ.</a:t>
            </a:r>
          </a:p>
          <a:p>
            <a:r>
              <a:rPr lang="en-US" dirty="0"/>
              <a:t>Instead of fitting N models for N series, we fit one model across all series.</a:t>
            </a:r>
          </a:p>
        </p:txBody>
      </p:sp>
    </p:spTree>
    <p:extLst>
      <p:ext uri="{BB962C8B-B14F-4D97-AF65-F5344CB8AC3E}">
        <p14:creationId xmlns:p14="http://schemas.microsoft.com/office/powerpoint/2010/main" val="7424750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31FBC-88D9-DCDB-5F31-4FCB7BEF1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Forecast Model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4D02654-D9D6-9F24-1990-DC2C546D79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1455" y="1690688"/>
            <a:ext cx="5789089" cy="4944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4943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2E6FB-C484-E005-4844-5C9567C17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7ABF3AF-3152-600C-5A08-AAF9719F12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172639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117978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9AD1B-15AC-73AB-08B3-44B57F830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Deployment: Retraining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B799E-274C-0F09-65CC-3B434641E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Scheduled retraining</a:t>
            </a:r>
          </a:p>
          <a:p>
            <a:r>
              <a:rPr lang="en-US" dirty="0"/>
              <a:t>Rolling window retraining</a:t>
            </a:r>
          </a:p>
          <a:p>
            <a:r>
              <a:rPr lang="en-US" dirty="0"/>
              <a:t>Performance-triggered retraining</a:t>
            </a:r>
          </a:p>
        </p:txBody>
      </p:sp>
    </p:spTree>
    <p:extLst>
      <p:ext uri="{BB962C8B-B14F-4D97-AF65-F5344CB8AC3E}">
        <p14:creationId xmlns:p14="http://schemas.microsoft.com/office/powerpoint/2010/main" val="3302149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30FD2-6A8F-67C0-A6E9-F0556CF9F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Materials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E2CDF-6199-216E-9FB0-E453A741D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Modern Time Series Forecasting with Python, Second Edition, Manu Joseph, Jeffrey Tackes</a:t>
            </a:r>
          </a:p>
          <a:p>
            <a:r>
              <a:rPr lang="en-US" dirty="0">
                <a:hlinkClick r:id="rId2"/>
              </a:rPr>
              <a:t>https://github.com/Nixtla/statsforecast</a:t>
            </a:r>
            <a:endParaRPr lang="en-US" dirty="0"/>
          </a:p>
          <a:p>
            <a:r>
              <a:rPr lang="en-US" dirty="0">
                <a:hlinkClick r:id="rId3"/>
              </a:rPr>
              <a:t>https://github.com/Nixtla/mlforecast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008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2023</TotalTime>
  <Words>905</Words>
  <Application>Microsoft Macintosh PowerPoint</Application>
  <PresentationFormat>Widescreen</PresentationFormat>
  <Paragraphs>182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Aptos</vt:lpstr>
      <vt:lpstr>Aptos Display</vt:lpstr>
      <vt:lpstr>Arial</vt:lpstr>
      <vt:lpstr>Courier New</vt:lpstr>
      <vt:lpstr>Office Theme</vt:lpstr>
      <vt:lpstr>Time Series Forecasting</vt:lpstr>
      <vt:lpstr>Agenda</vt:lpstr>
      <vt:lpstr>Data Preprocessing</vt:lpstr>
      <vt:lpstr>Handling missing data – few timepoints</vt:lpstr>
      <vt:lpstr>Handling bigger gaps</vt:lpstr>
      <vt:lpstr>Handling bigger gaps</vt:lpstr>
      <vt:lpstr>Visualization</vt:lpstr>
      <vt:lpstr>Visualization: Macro Patterns</vt:lpstr>
      <vt:lpstr>Visualization: Seasonality</vt:lpstr>
      <vt:lpstr>Visualization: Correlation</vt:lpstr>
      <vt:lpstr>Decomposition</vt:lpstr>
      <vt:lpstr>Decomposition</vt:lpstr>
      <vt:lpstr>Outlier handling</vt:lpstr>
      <vt:lpstr>Baselining</vt:lpstr>
      <vt:lpstr>Setting up a test harness</vt:lpstr>
      <vt:lpstr>Generating strong baseline forecasts</vt:lpstr>
      <vt:lpstr>Generating strong baseline forecasts</vt:lpstr>
      <vt:lpstr>Generating strong baseline forecasts</vt:lpstr>
      <vt:lpstr>Generating strong baseline forecasts</vt:lpstr>
      <vt:lpstr>Generating strong baseline forecasts</vt:lpstr>
      <vt:lpstr>Generating strong baseline forecasts</vt:lpstr>
      <vt:lpstr>Generating strong baseline forecasts</vt:lpstr>
      <vt:lpstr>Generating strong baseline forecasts</vt:lpstr>
      <vt:lpstr>Generating strong baseline forecasts</vt:lpstr>
      <vt:lpstr>Generating strong baseline forecasts</vt:lpstr>
      <vt:lpstr>Model Trials: for a specific product family</vt:lpstr>
      <vt:lpstr>Model Trials: for a specific product family across all stores</vt:lpstr>
      <vt:lpstr>Model Trials: for a specific product family across all stores</vt:lpstr>
      <vt:lpstr>Forecastability</vt:lpstr>
      <vt:lpstr>Forecastability</vt:lpstr>
      <vt:lpstr>Machine Learning For Time Series</vt:lpstr>
      <vt:lpstr>ML: for a specific product family across all stores</vt:lpstr>
      <vt:lpstr>Statistical vs ML methods</vt:lpstr>
      <vt:lpstr>Global Forecast Model</vt:lpstr>
      <vt:lpstr>Global Forecast Model</vt:lpstr>
      <vt:lpstr>Deployment</vt:lpstr>
      <vt:lpstr>Deployment: Retraining</vt:lpstr>
      <vt:lpstr>Reference Materials Used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Ashhadul Islam</dc:creator>
  <cp:lastModifiedBy>Ashhadul Islam</cp:lastModifiedBy>
  <cp:revision>40</cp:revision>
  <dcterms:created xsi:type="dcterms:W3CDTF">2025-12-17T11:46:16Z</dcterms:created>
  <dcterms:modified xsi:type="dcterms:W3CDTF">2025-12-19T00:34:51Z</dcterms:modified>
</cp:coreProperties>
</file>